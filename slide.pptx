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285750" y="1596265"/>
            <a:ext cx="4000500" cy="97618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00063" y="1810578"/>
            <a:ext cx="3571875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00063" y="1998101"/>
            <a:ext cx="3571875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 Language Divide: 7,000+ languages, but most lack quality translation tools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25466" y="2751041"/>
            <a:ext cx="2921040" cy="796165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039778" y="2965354"/>
            <a:ext cx="2492415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 Solution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039778" y="3152877"/>
            <a:ext cx="2492415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NLLB-200 Model + Gradio Web Interface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0" y="56090"/>
            <a:ext cx="4572000" cy="503129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572000" y="56090"/>
            <a:ext cx="28575" cy="5031293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4929188" y="656165"/>
            <a:ext cx="3857625" cy="1234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1877F2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1877F2"/>
                </a:solidFill>
                <a:latin typeface="Calibri"/>
                <a:ea typeface="Calibri"/>
                <a:cs typeface="Calibri"/>
                <a:sym typeface="Calibri"/>
              </a:rPr>
              <a:t>Building an Accessible Multilingual Translation System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929188" y="2104867"/>
            <a:ext cx="3857625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491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Leveraging Meta's NLLB-200 model to provide high-quality translation for 200+ languages through an intuitive web interface.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929188" y="3255011"/>
            <a:ext cx="1857375" cy="6304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4929188" y="3255011"/>
            <a:ext cx="21431" cy="630436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5057775" y="3383598"/>
            <a:ext cx="1600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531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200+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5057775" y="3640773"/>
            <a:ext cx="160020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Languages Supported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6929438" y="3255011"/>
            <a:ext cx="1857375" cy="6304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6929438" y="3255011"/>
            <a:ext cx="21431" cy="630436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7058025" y="3383598"/>
            <a:ext cx="1600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531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44%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7058025" y="3640773"/>
            <a:ext cx="160020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BLEU Improvement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4929188" y="4028322"/>
            <a:ext cx="1857375" cy="6304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4929188" y="4028322"/>
            <a:ext cx="21431" cy="630436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5057775" y="4156909"/>
            <a:ext cx="1600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531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3.3B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5057775" y="4414084"/>
            <a:ext cx="160020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Model Parameters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6929438" y="4028322"/>
            <a:ext cx="1857375" cy="6304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6929438" y="4028322"/>
            <a:ext cx="21431" cy="630436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7058025" y="4156909"/>
            <a:ext cx="1600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531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Web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7058025" y="4414084"/>
            <a:ext cx="1600200" cy="1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Deployment Ready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" name="Google Shape;4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61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"/>
          <p:cNvSpPr/>
          <p:nvPr/>
        </p:nvSpPr>
        <p:spPr>
          <a:xfrm>
            <a:off x="0" y="0"/>
            <a:ext cx="4572000" cy="561800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50569" y="0"/>
            <a:ext cx="21431" cy="5618001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313" y="1023063"/>
            <a:ext cx="4143375" cy="357187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4"/>
          <p:cNvSpPr/>
          <p:nvPr/>
        </p:nvSpPr>
        <p:spPr>
          <a:xfrm>
            <a:off x="4822031" y="250031"/>
            <a:ext cx="4071938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Model Architecture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822031" y="437555"/>
            <a:ext cx="4071938" cy="520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163"/>
              </a:lnSpc>
              <a:spcBef>
                <a:spcPts val="0"/>
              </a:spcBef>
              <a:spcAft>
                <a:spcPts val="0"/>
              </a:spcAft>
              <a:buClr>
                <a:srgbClr val="1877F2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1877F2"/>
                </a:solidFill>
                <a:latin typeface="Calibri"/>
                <a:ea typeface="Calibri"/>
                <a:cs typeface="Calibri"/>
                <a:sym typeface="Calibri"/>
              </a:rPr>
              <a:t>How NLLB-200 Scales to 200 Languages Without Sacrificing Quality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822031" y="1064754"/>
            <a:ext cx="4071938" cy="5668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4822031" y="1064754"/>
            <a:ext cx="28575" cy="5668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4907756" y="1150479"/>
            <a:ext cx="3900488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1877F2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1877F2"/>
                </a:solidFill>
                <a:latin typeface="Calibri"/>
                <a:ea typeface="Calibri"/>
                <a:cs typeface="Calibri"/>
                <a:sym typeface="Calibri"/>
              </a:rPr>
              <a:t>Transformer Encoder-Decoder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907756" y="1305855"/>
            <a:ext cx="3900488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927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Foundation architecture enabling parallel processing and self-attention mechanisms for understanding and generating language.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822031" y="1710147"/>
            <a:ext cx="4071938" cy="5668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4822031" y="1710147"/>
            <a:ext cx="28575" cy="5668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4907756" y="1795872"/>
            <a:ext cx="3900488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1877F2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1877F2"/>
                </a:solidFill>
                <a:latin typeface="Calibri"/>
                <a:ea typeface="Calibri"/>
                <a:cs typeface="Calibri"/>
                <a:sym typeface="Calibri"/>
              </a:rPr>
              <a:t>Sparsely-Gated MoE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907756" y="1951248"/>
            <a:ext cx="3900488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927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64 experts per layer, Top-2 routing. Enables 3.3B parameters while maintaining constant computational cost per token.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4822031" y="2355540"/>
            <a:ext cx="4071938" cy="5668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4822031" y="2355540"/>
            <a:ext cx="28575" cy="5668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4907756" y="2441265"/>
            <a:ext cx="3900488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1877F2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1877F2"/>
                </a:solidFill>
                <a:latin typeface="Calibri"/>
                <a:ea typeface="Calibri"/>
                <a:cs typeface="Calibri"/>
                <a:sym typeface="Calibri"/>
              </a:rPr>
              <a:t>Shared Vocabulary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907756" y="2596642"/>
            <a:ext cx="3900488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927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Single 256K SentencePiece tokenizer for all 200 languages, enabling cross-lingual transfer and knowledge sharing.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822031" y="3000933"/>
            <a:ext cx="4071938" cy="5668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4822031" y="3000933"/>
            <a:ext cx="28575" cy="5668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4907756" y="3086658"/>
            <a:ext cx="3900488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1877F2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1877F2"/>
                </a:solidFill>
                <a:latin typeface="Calibri"/>
                <a:ea typeface="Calibri"/>
                <a:cs typeface="Calibri"/>
                <a:sym typeface="Calibri"/>
              </a:rPr>
              <a:t>Language Conditioning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907756" y="3242035"/>
            <a:ext cx="3900488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927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Target language explicitly specified via forced_bos_token_id, enabling direct many-to-many translation without pivot languages.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822031" y="3696333"/>
            <a:ext cx="2000250" cy="510778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187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907756" y="3782058"/>
            <a:ext cx="182880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64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4907756" y="3985654"/>
            <a:ext cx="1828800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Experts/Layer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6893719" y="3696333"/>
            <a:ext cx="2000250" cy="510778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187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6979444" y="3782058"/>
            <a:ext cx="182880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Top-2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6979444" y="3985654"/>
            <a:ext cx="1828800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Routing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822031" y="4249973"/>
            <a:ext cx="2000250" cy="510778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187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907756" y="4335698"/>
            <a:ext cx="182880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256K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907756" y="4539295"/>
            <a:ext cx="1828800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Vocabulary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6893719" y="4249973"/>
            <a:ext cx="2000250" cy="510778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187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6979444" y="4335698"/>
            <a:ext cx="182880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3.3B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6979444" y="4539295"/>
            <a:ext cx="1828800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822031" y="4839333"/>
            <a:ext cx="4071938" cy="471488"/>
          </a:xfrm>
          <a:prstGeom prst="rect">
            <a:avLst/>
          </a:prstGeom>
          <a:solidFill>
            <a:srgbClr val="1877F2">
              <a:alpha val="9803"/>
            </a:srgbClr>
          </a:solidFill>
          <a:ln cap="flat" cmpd="sng" w="18275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5236369" y="4939345"/>
            <a:ext cx="3557588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Result:</a:t>
            </a:r>
            <a:r>
              <a:rPr b="1" i="0" lang="en-US" sz="584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44% relative improvement in BLEU scores over previous state-of-the-art, especially strong on low-resource languages.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9" name="Google Shape;8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/>
          <p:nvPr/>
        </p:nvSpPr>
        <p:spPr>
          <a:xfrm>
            <a:off x="357188" y="321469"/>
            <a:ext cx="8429625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357188" y="508992"/>
            <a:ext cx="8429625" cy="29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570"/>
              </a:lnSpc>
              <a:spcBef>
                <a:spcPts val="0"/>
              </a:spcBef>
              <a:spcAft>
                <a:spcPts val="0"/>
              </a:spcAft>
              <a:buClr>
                <a:srgbClr val="1877F2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1877F2"/>
                </a:solidFill>
                <a:latin typeface="Calibri"/>
                <a:ea typeface="Calibri"/>
                <a:cs typeface="Calibri"/>
                <a:sym typeface="Calibri"/>
              </a:rPr>
              <a:t>Deploying a 3.3B Parameter Model with Gradio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357188" y="1127624"/>
            <a:ext cx="2714625" cy="1268016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187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357188" y="1127624"/>
            <a:ext cx="2686050" cy="28575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2659177" y="1213349"/>
            <a:ext cx="326910" cy="3893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928"/>
              </a:lnSpc>
              <a:spcBef>
                <a:spcPts val="0"/>
              </a:spcBef>
              <a:spcAft>
                <a:spcPts val="0"/>
              </a:spcAft>
              <a:buClr>
                <a:srgbClr val="1877F2"/>
              </a:buClr>
              <a:buSzPts val="2016"/>
              <a:buFont typeface="Calibri"/>
              <a:buNone/>
            </a:pPr>
            <a:r>
              <a:rPr b="1" i="0" lang="en-US" sz="2016" u="none" cap="none" strike="noStrike">
                <a:solidFill>
                  <a:srgbClr val="1877F2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0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500063" y="1270499"/>
            <a:ext cx="2428875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1877F2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1877F2"/>
                </a:solidFill>
                <a:latin typeface="Calibri"/>
                <a:ea typeface="Calibri"/>
                <a:cs typeface="Calibri"/>
                <a:sym typeface="Calibri"/>
              </a:rPr>
              <a:t>Model Selection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00063" y="1502671"/>
            <a:ext cx="24288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Chose 3.3B variant for optimal quality-to-latency tradeoff. Also tested 600M and 1.3B models.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500063" y="1867002"/>
            <a:ext cx="2428875" cy="3571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500063" y="1867002"/>
            <a:ext cx="21431" cy="3571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500063" y="1867002"/>
            <a:ext cx="2428875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Hugging Face Integration:</a:t>
            </a:r>
            <a:r>
              <a:rPr b="1" i="0" lang="en-US" sz="534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AutoModelForSeq2SeqLM for seamless loading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3214688" y="1127624"/>
            <a:ext cx="2714625" cy="1268016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187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3214688" y="1127624"/>
            <a:ext cx="2686050" cy="28575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5516677" y="1213349"/>
            <a:ext cx="326910" cy="3893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928"/>
              </a:lnSpc>
              <a:spcBef>
                <a:spcPts val="0"/>
              </a:spcBef>
              <a:spcAft>
                <a:spcPts val="0"/>
              </a:spcAft>
              <a:buClr>
                <a:srgbClr val="1877F2"/>
              </a:buClr>
              <a:buSzPts val="2016"/>
              <a:buFont typeface="Calibri"/>
              <a:buNone/>
            </a:pPr>
            <a:r>
              <a:rPr b="1" i="0" lang="en-US" sz="2016" u="none" cap="none" strike="noStrike">
                <a:solidFill>
                  <a:srgbClr val="1877F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0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3357563" y="1270499"/>
            <a:ext cx="2428875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1877F2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1877F2"/>
                </a:solidFill>
                <a:latin typeface="Calibri"/>
                <a:ea typeface="Calibri"/>
                <a:cs typeface="Calibri"/>
                <a:sym typeface="Calibri"/>
              </a:rPr>
              <a:t>Core Translation Function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3357563" y="1502671"/>
            <a:ext cx="24288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Implements tokenization, forced decoding with target language, and beam search for quality.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3357563" y="1867002"/>
            <a:ext cx="2428875" cy="3571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3357563" y="1867002"/>
            <a:ext cx="21431" cy="3571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3357563" y="1867002"/>
            <a:ext cx="2428875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Key Parameter:</a:t>
            </a:r>
            <a:r>
              <a:rPr b="1" i="0" lang="en-US" sz="534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forced_bos_token_id enables many-to-many translation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6072188" y="1127624"/>
            <a:ext cx="2714625" cy="1239441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187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6072188" y="1127624"/>
            <a:ext cx="2686050" cy="28575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8374177" y="1213349"/>
            <a:ext cx="326910" cy="3893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928"/>
              </a:lnSpc>
              <a:spcBef>
                <a:spcPts val="0"/>
              </a:spcBef>
              <a:spcAft>
                <a:spcPts val="0"/>
              </a:spcAft>
              <a:buClr>
                <a:srgbClr val="1877F2"/>
              </a:buClr>
              <a:buSzPts val="2016"/>
              <a:buFont typeface="Calibri"/>
              <a:buNone/>
            </a:pPr>
            <a:r>
              <a:rPr b="1" i="0" lang="en-US" sz="2016" u="none" cap="none" strike="noStrike">
                <a:solidFill>
                  <a:srgbClr val="1877F2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0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6215063" y="1270499"/>
            <a:ext cx="2428875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1877F2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1877F2"/>
                </a:solidFill>
                <a:latin typeface="Calibri"/>
                <a:ea typeface="Calibri"/>
                <a:cs typeface="Calibri"/>
                <a:sym typeface="Calibri"/>
              </a:rPr>
              <a:t>Gradio UI &amp; Deployment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6215063" y="1502671"/>
            <a:ext cx="24288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Built interactive web interface with language dropdowns, text areas, and swap button.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6215063" y="1867002"/>
            <a:ext cx="2428875" cy="250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6215063" y="1867002"/>
            <a:ext cx="21431" cy="250031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6215063" y="1867002"/>
            <a:ext cx="2428875" cy="2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102100" spcFirstLastPara="1" rIns="102100" wrap="square" tIns="85075">
            <a:noAutofit/>
          </a:bodyPr>
          <a:lstStyle/>
          <a:p>
            <a:pPr indent="0" lvl="0" marL="0" marR="0" rtl="0" algn="l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Deployment:</a:t>
            </a:r>
            <a:r>
              <a:rPr b="1" i="0" lang="en-US" sz="534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Web-based, no installation required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357188" y="2545659"/>
            <a:ext cx="4161234" cy="457200"/>
          </a:xfrm>
          <a:prstGeom prst="rect">
            <a:avLst/>
          </a:prstGeom>
          <a:solidFill>
            <a:srgbClr val="1877F2">
              <a:alpha val="9803"/>
            </a:srgbClr>
          </a:solidFill>
          <a:ln cap="flat" cmpd="sng" w="1827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771525" y="2714262"/>
            <a:ext cx="3501386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1877F2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1877F2"/>
                </a:solidFill>
                <a:latin typeface="Calibri"/>
                <a:ea typeface="Calibri"/>
                <a:cs typeface="Calibri"/>
                <a:sym typeface="Calibri"/>
              </a:rPr>
              <a:t>Language Mapping:</a:t>
            </a:r>
            <a:r>
              <a:rPr b="1" i="0" lang="en-US" sz="584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200+ human-readable names mapped to NLLB language codes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625578" y="2545659"/>
            <a:ext cx="4161234" cy="457200"/>
          </a:xfrm>
          <a:prstGeom prst="rect">
            <a:avLst/>
          </a:prstGeom>
          <a:solidFill>
            <a:srgbClr val="1877F2">
              <a:alpha val="9803"/>
            </a:srgbClr>
          </a:solidFill>
          <a:ln cap="flat" cmpd="sng" w="1827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5039916" y="2699975"/>
            <a:ext cx="3050549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1877F2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1877F2"/>
                </a:solidFill>
                <a:latin typeface="Calibri"/>
                <a:ea typeface="Calibri"/>
                <a:cs typeface="Calibri"/>
                <a:sym typeface="Calibri"/>
              </a:rPr>
              <a:t>Beam Search:</a:t>
            </a:r>
            <a:r>
              <a:rPr b="1" i="0" lang="en-US" sz="584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4-beam search for higher-quality, more fluent translations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5" name="Google Shape;12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6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4550569" y="0"/>
            <a:ext cx="21431" cy="514350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428625"/>
            <a:ext cx="4000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6"/>
          <p:cNvSpPr/>
          <p:nvPr/>
        </p:nvSpPr>
        <p:spPr>
          <a:xfrm>
            <a:off x="4857750" y="746410"/>
            <a:ext cx="400050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Key Advantages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857750" y="948221"/>
            <a:ext cx="4000500" cy="482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718"/>
              </a:lnSpc>
              <a:spcBef>
                <a:spcPts val="0"/>
              </a:spcBef>
              <a:spcAft>
                <a:spcPts val="0"/>
              </a:spcAft>
              <a:buClr>
                <a:srgbClr val="1877F2"/>
              </a:buClr>
              <a:buSzPts val="1295"/>
              <a:buFont typeface="Calibri"/>
              <a:buNone/>
            </a:pPr>
            <a:r>
              <a:rPr b="1" i="0" lang="en-US" sz="1295" u="none" cap="none" strike="noStrike">
                <a:solidFill>
                  <a:srgbClr val="1877F2"/>
                </a:solidFill>
                <a:latin typeface="Calibri"/>
                <a:ea typeface="Calibri"/>
                <a:cs typeface="Calibri"/>
                <a:sym typeface="Calibri"/>
              </a:rPr>
              <a:t>Why This Implementation Successfully Addresses the Problem</a:t>
            </a:r>
            <a:endParaRPr b="0" i="0" sz="1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857750" y="1609688"/>
            <a:ext cx="1950244" cy="621841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5257800" y="1723988"/>
            <a:ext cx="1435894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1877F2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1877F2"/>
                </a:solidFill>
                <a:latin typeface="Calibri"/>
                <a:ea typeface="Calibri"/>
                <a:cs typeface="Calibri"/>
                <a:sym typeface="Calibri"/>
              </a:rPr>
              <a:t>200+ Languages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257800" y="1868649"/>
            <a:ext cx="1435894" cy="220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45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Unified system supporting all languages in a single model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6908006" y="1609688"/>
            <a:ext cx="1950244" cy="621841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7308056" y="1738275"/>
            <a:ext cx="1435894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1877F2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1877F2"/>
                </a:solidFill>
                <a:latin typeface="Calibri"/>
                <a:ea typeface="Calibri"/>
                <a:cs typeface="Calibri"/>
                <a:sym typeface="Calibri"/>
              </a:rPr>
              <a:t>High Quality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7308056" y="1882936"/>
            <a:ext cx="1435894" cy="220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45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44% improvement over previous SOTA, especially for low-resource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857750" y="2317254"/>
            <a:ext cx="1950244" cy="621841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5257800" y="2431554"/>
            <a:ext cx="1435894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1877F2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1877F2"/>
                </a:solidFill>
                <a:latin typeface="Calibri"/>
                <a:ea typeface="Calibri"/>
                <a:cs typeface="Calibri"/>
                <a:sym typeface="Calibri"/>
              </a:rPr>
              <a:t>Web Accessible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257800" y="2576215"/>
            <a:ext cx="1435894" cy="220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45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No installation required, works on any device with browser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908006" y="2317254"/>
            <a:ext cx="1950244" cy="621841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7308056" y="2445841"/>
            <a:ext cx="1435894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1877F2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1877F2"/>
                </a:solidFill>
                <a:latin typeface="Calibri"/>
                <a:ea typeface="Calibri"/>
                <a:cs typeface="Calibri"/>
                <a:sym typeface="Calibri"/>
              </a:rPr>
              <a:t>Fully Deployable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7308056" y="2590502"/>
            <a:ext cx="1435894" cy="220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45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Production-ready system, not just research code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857750" y="3024820"/>
            <a:ext cx="1950244" cy="621841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5257800" y="3139120"/>
            <a:ext cx="1435894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1877F2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1877F2"/>
                </a:solidFill>
                <a:latin typeface="Calibri"/>
                <a:ea typeface="Calibri"/>
                <a:cs typeface="Calibri"/>
                <a:sym typeface="Calibri"/>
              </a:rPr>
              <a:t>Cost-Effective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5257800" y="3283781"/>
            <a:ext cx="1435894" cy="220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45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Leverages open-source model, no expensive retraining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6908006" y="3024820"/>
            <a:ext cx="1950244" cy="621841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7308056" y="3153408"/>
            <a:ext cx="1435894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1877F2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1877F2"/>
                </a:solidFill>
                <a:latin typeface="Calibri"/>
                <a:ea typeface="Calibri"/>
                <a:cs typeface="Calibri"/>
                <a:sym typeface="Calibri"/>
              </a:rPr>
              <a:t>Extensible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7308056" y="3298068"/>
            <a:ext cx="1435894" cy="220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45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Foundation for language detection, TTS/STT, fine-tuning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4857750" y="3732386"/>
            <a:ext cx="4000500" cy="621841"/>
          </a:xfrm>
          <a:prstGeom prst="rect">
            <a:avLst/>
          </a:prstGeom>
          <a:solidFill>
            <a:srgbClr val="E74C3C"/>
          </a:solidFill>
          <a:ln cap="flat" cmpd="sng" w="18275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5257800" y="3860974"/>
            <a:ext cx="348615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Impact: Advancing Digital Equity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5257800" y="4005635"/>
            <a:ext cx="3486150" cy="220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4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Practical demonstration of how cutting-edge AI can address real-world inequities and serve underserved language communities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7" name="Google Shape;1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67138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7"/>
          <p:cNvSpPr/>
          <p:nvPr/>
        </p:nvSpPr>
        <p:spPr>
          <a:xfrm>
            <a:off x="357188" y="321469"/>
            <a:ext cx="8429625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Challenges &amp; Solutions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357188" y="508992"/>
            <a:ext cx="8429625" cy="29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570"/>
              </a:lnSpc>
              <a:spcBef>
                <a:spcPts val="0"/>
              </a:spcBef>
              <a:spcAft>
                <a:spcPts val="0"/>
              </a:spcAft>
              <a:buClr>
                <a:srgbClr val="1877F2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1877F2"/>
                </a:solidFill>
                <a:latin typeface="Calibri"/>
                <a:ea typeface="Calibri"/>
                <a:cs typeface="Calibri"/>
                <a:sym typeface="Calibri"/>
              </a:rPr>
              <a:t>Challenges Encountered and Paths Forward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357188" y="1113337"/>
            <a:ext cx="4125516" cy="834033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357188" y="1113337"/>
            <a:ext cx="4096941" cy="21431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471488" y="1227637"/>
            <a:ext cx="389691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Computational Requirements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471488" y="1397301"/>
            <a:ext cx="3896916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3.3B model requires 20+ GB RAM to load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71488" y="1583038"/>
            <a:ext cx="3896916" cy="221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471488" y="1583038"/>
            <a:ext cx="21431" cy="22145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471488" y="1583038"/>
            <a:ext cx="3896916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85075" spcFirstLastPara="1" rIns="85075" wrap="square" tIns="68050">
            <a:noAutofit/>
          </a:bodyPr>
          <a:lstStyle/>
          <a:p>
            <a:pPr indent="0" lvl="0" marL="0" marR="0" rtl="0" algn="l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CPU inference: 10-30 seconds per translation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357188" y="2018807"/>
            <a:ext cx="4125516" cy="834033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357188" y="2018807"/>
            <a:ext cx="4096941" cy="21431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471488" y="2133107"/>
            <a:ext cx="389691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Inference Latency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471488" y="2302771"/>
            <a:ext cx="3896916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Beam search improves quality but increases latency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71488" y="2488509"/>
            <a:ext cx="3896916" cy="221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471488" y="2488509"/>
            <a:ext cx="21431" cy="22145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471488" y="2488509"/>
            <a:ext cx="3896916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85075" spcFirstLastPara="1" rIns="85075" wrap="square" tIns="68050">
            <a:noAutofit/>
          </a:bodyPr>
          <a:lstStyle/>
          <a:p>
            <a:pPr indent="0" lvl="0" marL="0" marR="0" rtl="0" algn="l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Trade-off between quality and speed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357188" y="2924277"/>
            <a:ext cx="4125516" cy="834033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357188" y="2924277"/>
            <a:ext cx="4096941" cy="21431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471488" y="3038577"/>
            <a:ext cx="389691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Fine-tuning Complexity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471488" y="3208241"/>
            <a:ext cx="3896916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MoE models require specialized regularization to prevent overfitting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71488" y="3393979"/>
            <a:ext cx="3896916" cy="221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471488" y="3393979"/>
            <a:ext cx="21431" cy="22145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471488" y="3393979"/>
            <a:ext cx="3896916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85075" spcFirstLastPara="1" rIns="85075" wrap="square" tIns="68050">
            <a:noAutofit/>
          </a:bodyPr>
          <a:lstStyle/>
          <a:p>
            <a:pPr indent="0" lvl="0" marL="0" marR="0" rtl="0" algn="l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Expert Output Masking, high dropout needed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4661297" y="1113337"/>
            <a:ext cx="4125516" cy="684014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4661297" y="1113337"/>
            <a:ext cx="4096941" cy="21431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4775597" y="1227637"/>
            <a:ext cx="389691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Quantization Solution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4775597" y="1397301"/>
            <a:ext cx="389691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8-bit or 4-bit quantization reduces memory footprint to 8-10 GB while maintaining translation quality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4661297" y="1868788"/>
            <a:ext cx="4125516" cy="684014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4661297" y="1868788"/>
            <a:ext cx="4096941" cy="21431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4775597" y="1983088"/>
            <a:ext cx="389691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GPU Deployment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4775597" y="2152752"/>
            <a:ext cx="389691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GPU acceleration (NVIDIA A100 or RTX 4090) achieves sub-second inference latency for real-time translation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661297" y="2624240"/>
            <a:ext cx="4125516" cy="684014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4661297" y="2624240"/>
            <a:ext cx="4096941" cy="21431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4775597" y="2738540"/>
            <a:ext cx="389691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Dynamic Beam Selection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4775597" y="2908204"/>
            <a:ext cx="389691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Implement variable beam sizes based on use case—larger for critical translations, smaller for speed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4661297" y="3522566"/>
            <a:ext cx="4125516" cy="1084399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4804172" y="3665441"/>
            <a:ext cx="383976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Improvements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4804172" y="3886898"/>
            <a:ext cx="1884164" cy="252878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4804172" y="3886898"/>
            <a:ext cx="21431" cy="25287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4804172" y="3886898"/>
            <a:ext cx="1884164" cy="252878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85075" spcFirstLastPara="1" rIns="85075" wrap="square" tIns="85075">
            <a:noAutofit/>
          </a:bodyPr>
          <a:lstStyle/>
          <a:p>
            <a:pPr indent="0" lvl="0" marL="0" marR="0" rtl="0" algn="l">
              <a:lnSpc>
                <a:spcPct val="1685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🔍 Automatic Language Detection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6759773" y="3886898"/>
            <a:ext cx="1884164" cy="252878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6759773" y="3886898"/>
            <a:ext cx="21431" cy="25287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6759773" y="3886898"/>
            <a:ext cx="1884164" cy="252878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85075" spcFirstLastPara="1" rIns="85075" wrap="square" tIns="85075">
            <a:noAutofit/>
          </a:bodyPr>
          <a:lstStyle/>
          <a:p>
            <a:pPr indent="0" lvl="0" marL="0" marR="0" rtl="0" algn="l">
              <a:lnSpc>
                <a:spcPct val="1685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🎤 Text-to-Speech &amp; Speech-to-Text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4804172" y="4211213"/>
            <a:ext cx="1884164" cy="252878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4804172" y="4211213"/>
            <a:ext cx="21431" cy="25287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4804172" y="4211213"/>
            <a:ext cx="1884164" cy="252878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85075" spcFirstLastPara="1" rIns="85075" wrap="square" tIns="85075">
            <a:noAutofit/>
          </a:bodyPr>
          <a:lstStyle/>
          <a:p>
            <a:pPr indent="0" lvl="0" marL="0" marR="0" rtl="0" algn="l">
              <a:lnSpc>
                <a:spcPct val="1685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📚 Domain-Specific Fine-tuning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6759773" y="4211213"/>
            <a:ext cx="1884164" cy="252878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6759773" y="4211213"/>
            <a:ext cx="21431" cy="25287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6759773" y="4211213"/>
            <a:ext cx="1884164" cy="252878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85075" spcFirstLastPara="1" rIns="85075" wrap="square" tIns="85075">
            <a:noAutofit/>
          </a:bodyPr>
          <a:lstStyle/>
          <a:p>
            <a:pPr indent="0" lvl="0" marL="0" marR="0" rtl="0" algn="l">
              <a:lnSpc>
                <a:spcPct val="1685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☁️ Cloud Deployment (Hugging Face, AWS)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357188" y="4749840"/>
            <a:ext cx="8429625" cy="514350"/>
          </a:xfrm>
          <a:prstGeom prst="rect">
            <a:avLst/>
          </a:prstGeom>
          <a:solidFill>
            <a:srgbClr val="1877F2">
              <a:alpha val="14901"/>
            </a:srgbClr>
          </a:solidFill>
          <a:ln cap="flat" cmpd="sng" w="1827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814388" y="4864140"/>
            <a:ext cx="78581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1232"/>
              </a:lnSpc>
              <a:spcBef>
                <a:spcPts val="0"/>
              </a:spcBef>
              <a:spcAft>
                <a:spcPts val="0"/>
              </a:spcAft>
              <a:buClr>
                <a:srgbClr val="1877F2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1877F2"/>
                </a:solidFill>
                <a:latin typeface="Calibri"/>
                <a:ea typeface="Calibri"/>
                <a:cs typeface="Calibri"/>
                <a:sym typeface="Calibri"/>
              </a:rPr>
              <a:t>Key Insight:</a:t>
            </a:r>
            <a:r>
              <a:rPr b="1" i="0" lang="en-US" sz="584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All limitations are addressable with additional development. The core achievement—a practical, accessible, high-quality translation system for 200+ languages—has been successfully demonstrated.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